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923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874519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EB6834"/>
                </a:solidFill>
                <a:latin typeface="Segoe UI"/>
              </a:rPr>
              <a:t>MACHINE LEARNING  ·  PROJECT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3317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 i="0">
                <a:solidFill>
                  <a:srgbClr val="0B0B0B"/>
                </a:solidFill>
                <a:latin typeface="Segoe UI"/>
              </a:rPr>
              <a:t>Predicting Irrigation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3101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2514E"/>
                </a:solidFill>
                <a:latin typeface="Segoe UI"/>
              </a:rPr>
              <a:t>Multiclass classification of plot-level irrigation demand, and what the models revealed about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4160520"/>
            <a:ext cx="1280160" cy="1905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434840"/>
            <a:ext cx="9692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Carlo Stasi</a:t>
            </a:r>
            <a:r>
              <a:rPr sz="1700" b="0" i="0">
                <a:solidFill>
                  <a:srgbClr val="52514E"/>
                </a:solidFill>
                <a:latin typeface="Segoe UI"/>
              </a:rPr>
              <a:t>   VR543606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Master's Degree in Artificial Intelligence  ·  University of Verona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98781"/>
                </a:solidFill>
                <a:latin typeface="Segoe UI"/>
              </a:rPr>
              <a:t>Academic Year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Three irrigation levels, and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one of them is rare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6035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0B0B0B"/>
                </a:solidFill>
                <a:latin typeface="Segoe UI"/>
              </a:rPr>
              <a:t>Predict </a:t>
            </a:r>
            <a:r>
              <a:rPr sz="1500" b="1" i="0">
                <a:solidFill>
                  <a:srgbClr val="0B0B0B"/>
                </a:solidFill>
                <a:latin typeface="Segoe UI"/>
              </a:rPr>
              <a:t>Irrigation_Need</a:t>
            </a:r>
            <a:r>
              <a:rPr sz="1500" b="0" i="0">
                <a:solidFill>
                  <a:srgbClr val="0B0B0B"/>
                </a:solidFill>
                <a:latin typeface="Segoe UI"/>
              </a:rPr>
              <a:t> — Low, Medium or High — for an agricultural plot from soil, climate and crop attributes.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630,000 labelled records, 19 attributes, from the Kaggle Playground Series S6E4 (synthetic, generated from a real irrigation dataset).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46120"/>
            <a:ext cx="6328159" cy="658368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3374136"/>
            <a:ext cx="63281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  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0B0B"/>
                </a:solidFill>
                <a:latin typeface="Segoe UI"/>
              </a:rPr>
              <a:t>  58.72%   (369,917 rows)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39359" y="3246120"/>
            <a:ext cx="4080826" cy="658368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39359" y="3374136"/>
            <a:ext cx="40808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  Medium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  37.95%   (239,074 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45585" y="3246120"/>
            <a:ext cx="360309" cy="65836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11334" y="39959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Segoe UI"/>
              </a:rPr>
              <a:t>High</a:t>
            </a:r>
          </a:p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3.33%   (21,009 rows)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Class distribution of the 630,000 labelled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800600"/>
            <a:ext cx="3423818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800600"/>
            <a:ext cx="41148" cy="137160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4946904"/>
            <a:ext cx="3021482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04281"/>
                </a:solidFill>
                <a:latin typeface="Segoe UI"/>
              </a:rPr>
              <a:t>17.6 : 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Low-to-High imbalance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21,009 High rows against 369,917 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3938" y="4800600"/>
            <a:ext cx="3423818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3938" y="4800600"/>
            <a:ext cx="41148" cy="1371600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39970" y="4946904"/>
            <a:ext cx="3021482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04281"/>
                </a:solidFill>
                <a:latin typeface="Segoe UI"/>
              </a:rPr>
              <a:t>3.33%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of records are High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the class every downstream decision turns 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2076" y="4800600"/>
            <a:ext cx="3423818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82076" y="4800600"/>
            <a:ext cx="41148" cy="1371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8108" y="4946904"/>
            <a:ext cx="3021482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EB6834"/>
                </a:solidFill>
                <a:latin typeface="Segoe UI"/>
              </a:rPr>
              <a:t>Asymmetric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cost of the two errors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a missed drought costs a harvest; a needless watering costs water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Two training arenas,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one common test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416987" cy="804672"/>
          </a:xfrm>
          <a:prstGeom prst="roundRect">
            <a:avLst>
              <a:gd name="adj" fmla="val 12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630,000 rows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load, drop 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75939" y="2185416"/>
            <a:ext cx="23774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86835" y="1783080"/>
            <a:ext cx="2416987" cy="804672"/>
          </a:xfrm>
          <a:prstGeom prst="roundRect">
            <a:avLst>
              <a:gd name="adj" fmla="val 12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+3 agronomic indices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Thermal impact, Soil Health, Water Deficit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76975" y="2185416"/>
            <a:ext cx="23774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87871" y="1783080"/>
            <a:ext cx="2416987" cy="804672"/>
          </a:xfrm>
          <a:prstGeom prst="roundRect">
            <a:avLst>
              <a:gd name="adj" fmla="val 12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38 encoded dims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14 standardized + 24 one-hot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011" y="2185416"/>
            <a:ext cx="237744" cy="0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88907" y="1783080"/>
            <a:ext cx="2416987" cy="804672"/>
          </a:xfrm>
          <a:prstGeom prst="roundRect">
            <a:avLst>
              <a:gd name="adj" fmla="val 12000"/>
            </a:avLst>
          </a:prstGeom>
          <a:solidFill>
            <a:srgbClr val="FCFCFB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80 / 20 split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stratified, random_state=42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5218023" cy="115214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063240"/>
            <a:ext cx="41148" cy="115214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" y="3218688"/>
            <a:ext cx="4806543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3987E5"/>
                </a:solidFill>
                <a:latin typeface="Segoe UI"/>
              </a:rPr>
              <a:t>Arena A — balanced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B0B0B"/>
                </a:solidFill>
                <a:latin typeface="Segoe UI"/>
              </a:rPr>
              <a:t>50,421 training rows, 1:1:1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random undersampling of Low and Medium; the whole of High is kept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4811" y="4233672"/>
            <a:ext cx="2801036" cy="265176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87871" y="3063240"/>
            <a:ext cx="5218023" cy="115214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7871" y="3063240"/>
            <a:ext cx="41148" cy="115214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25615" y="3218688"/>
            <a:ext cx="4806543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04281"/>
                </a:solidFill>
                <a:latin typeface="Segoe UI"/>
              </a:rPr>
              <a:t>Arena B — full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B0B0B"/>
                </a:solidFill>
                <a:latin typeface="Segoe UI"/>
              </a:rPr>
              <a:t>504,000 training rows, natural distribution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class weights / sample weights instead of resampling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5847" y="4233672"/>
            <a:ext cx="2801036" cy="265176"/>
          </a:xfrm>
          <a:prstGeom prst="line">
            <a:avLst/>
          </a:prstGeom>
          <a:ln w="15875">
            <a:solidFill>
              <a:srgbClr val="8987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148840" y="4526280"/>
            <a:ext cx="7894015" cy="713232"/>
          </a:xfrm>
          <a:prstGeom prst="roundRect">
            <a:avLst>
              <a:gd name="adj" fmla="val 16000"/>
            </a:avLst>
          </a:prstGeom>
          <a:solidFill>
            <a:srgbClr val="FCFCFB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0B0B"/>
                </a:solidFill>
                <a:latin typeface="Segoe UI"/>
              </a:rPr>
              <a:t>One common test set: </a:t>
            </a:r>
            <a:r>
              <a:rPr sz="1400" b="1" i="0">
                <a:solidFill>
                  <a:srgbClr val="EB6834"/>
                </a:solidFill>
                <a:latin typeface="Segoe UI"/>
              </a:rPr>
              <a:t>126,000 rows, natural distribution</a:t>
            </a:r>
            <a:r>
              <a:rPr sz="1400" b="0" i="0">
                <a:solidFill>
                  <a:srgbClr val="0B0B0B"/>
                </a:solidFill>
                <a:latin typeface="Segoe UI"/>
              </a:rPr>
              <a:t> — identical in both arenas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68112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0B0B0B"/>
                </a:solidFill>
                <a:latin typeface="Segoe UI"/>
              </a:rPr>
              <a:t>Six models per arena: </a:t>
            </a:r>
            <a:r>
              <a:rPr sz="1350" b="1" i="0">
                <a:solidFill>
                  <a:srgbClr val="0B0B0B"/>
                </a:solidFill>
                <a:latin typeface="Segoe UI"/>
              </a:rPr>
              <a:t>two un-tuned baselines</a:t>
            </a:r>
            <a:r>
              <a:rPr sz="1350" b="0" i="0">
                <a:solidFill>
                  <a:srgbClr val="0B0B0B"/>
                </a:solidFill>
                <a:latin typeface="Segoe UI"/>
              </a:rPr>
              <a:t> (majority class, single decision tree) and </a:t>
            </a:r>
            <a:r>
              <a:rPr sz="1350" b="1" i="0">
                <a:solidFill>
                  <a:srgbClr val="0B0B0B"/>
                </a:solidFill>
                <a:latin typeface="Segoe UI"/>
              </a:rPr>
              <a:t>four tuned estimators</a:t>
            </a:r>
            <a:r>
              <a:rPr sz="1350" b="0" i="0">
                <a:solidFill>
                  <a:srgbClr val="0B0B0B"/>
                </a:solidFill>
                <a:latin typeface="Segoe UI"/>
              </a:rPr>
              <a:t>  —  K-NN, SVM, Random Forest, XGBoost, each by GridSearchCV, cv = 3, scoring = f1_macro.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98781"/>
                </a:solidFill>
                <a:latin typeface="Segoe UI"/>
              </a:rPr>
              <a:t>Balancing is applied to the training partition only, after the split, so the test set keeps the distribution the field would actually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THE MEASURING STICK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404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dirty="0">
                <a:solidFill>
                  <a:srgbClr val="0B0B0B"/>
                </a:solidFill>
                <a:latin typeface="Segoe UI"/>
              </a:rPr>
              <a:t>We tuned on macro F1</a:t>
            </a:r>
            <a:r>
              <a:rPr lang="it-IT" sz="2500" b="1" i="0" dirty="0">
                <a:solidFill>
                  <a:srgbClr val="0B0B0B"/>
                </a:solidFill>
                <a:latin typeface="Segoe UI"/>
              </a:rPr>
              <a:t>, </a:t>
            </a:r>
            <a:r>
              <a:rPr lang="it-IT" sz="2500" b="1" i="0" dirty="0" err="1">
                <a:solidFill>
                  <a:srgbClr val="0B0B0B"/>
                </a:solidFill>
                <a:latin typeface="Segoe UI"/>
              </a:rPr>
              <a:t>but</a:t>
            </a:r>
            <a:r>
              <a:rPr lang="it-IT" sz="2500" b="1" i="0" dirty="0">
                <a:solidFill>
                  <a:srgbClr val="0B0B0B"/>
                </a:solidFill>
                <a:latin typeface="Segoe UI"/>
              </a:rPr>
              <a:t> </a:t>
            </a:r>
            <a:r>
              <a:rPr sz="2500" b="1" i="0" dirty="0">
                <a:solidFill>
                  <a:srgbClr val="0B0B0B"/>
                </a:solidFill>
                <a:latin typeface="Segoe UI"/>
              </a:rPr>
              <a:t>Kaggle scored </a:t>
            </a:r>
            <a:r>
              <a:rPr sz="2500" b="1" i="0" dirty="0">
                <a:solidFill>
                  <a:srgbClr val="EB6834"/>
                </a:solidFill>
                <a:latin typeface="Segoe UI"/>
              </a:rPr>
              <a:t>balanced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5227167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41148" cy="14813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19072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A78D6"/>
                </a:solidFill>
                <a:latin typeface="Segoe UI"/>
              </a:rPr>
              <a:t>Macro F1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  mean of the three per-class F1 scores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0B0B"/>
                </a:solidFill>
                <a:latin typeface="Segoe UI"/>
              </a:rPr>
              <a:t>F1 blends precision and recall, so every false alarm is charged for.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98781"/>
                </a:solidFill>
                <a:latin typeface="Segoe UI"/>
              </a:rPr>
              <a:t>What the grid search optimised:  scoring = 'f1_macro'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572768"/>
            <a:ext cx="5227167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78727" y="1572768"/>
            <a:ext cx="41148" cy="14813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3047" y="1719072"/>
            <a:ext cx="4769967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B6834"/>
                </a:solidFill>
                <a:latin typeface="Segoe UI"/>
              </a:rPr>
              <a:t>Balanced accuracy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   mean of the three per-class recalls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0B0B"/>
                </a:solidFill>
                <a:latin typeface="Segoe UI"/>
              </a:rPr>
              <a:t>Asks only: of the real droughts, how many did we catch? It never looks at false alarms.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898781"/>
                </a:solidFill>
                <a:latin typeface="Segoe UI"/>
              </a:rPr>
              <a:t>What Kaggle scores — and the Recall column this pipeline always wrote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85800" y="3255264"/>
          <a:ext cx="10820092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1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7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2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2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On the rare class High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Droughts caught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Fields flagged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False alarms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Decision Tree (d=8)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0.9074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3,813 of 4,202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3,966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153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0.9412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3,955 of 4,202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 dirty="0">
                          <a:solidFill>
                            <a:srgbClr val="0B0B0B"/>
                          </a:solidFill>
                          <a:latin typeface="Segoe UI"/>
                        </a:rPr>
                        <a:t>4,568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 dirty="0">
                          <a:solidFill>
                            <a:srgbClr val="0B0B0B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85800" y="3566160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261104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352544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0B0B"/>
                </a:solidFill>
                <a:latin typeface="Segoe UI"/>
              </a:rPr>
              <a:t>Same trade, two prices: XGBoost catches </a:t>
            </a:r>
            <a:r>
              <a:rPr sz="1400" b="1" i="0">
                <a:solidFill>
                  <a:srgbClr val="EB6834"/>
                </a:solidFill>
                <a:latin typeface="Segoe UI"/>
              </a:rPr>
              <a:t>+142 droughts</a:t>
            </a:r>
            <a:r>
              <a:rPr sz="1400" b="0" i="0">
                <a:solidFill>
                  <a:srgbClr val="0B0B0B"/>
                </a:solidFill>
                <a:latin typeface="Segoe UI"/>
              </a:rPr>
              <a:t> and raises </a:t>
            </a:r>
            <a:r>
              <a:rPr sz="1400" b="1" i="0">
                <a:solidFill>
                  <a:srgbClr val="2A78D6"/>
                </a:solidFill>
                <a:latin typeface="Segoe UI"/>
              </a:rPr>
              <a:t>+460 false alarms</a:t>
            </a:r>
            <a:r>
              <a:rPr sz="1400" b="0" i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28032"/>
            <a:ext cx="5227167" cy="12984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828032"/>
            <a:ext cx="41148" cy="12984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974336"/>
            <a:ext cx="4824831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A78D6"/>
                </a:solidFill>
                <a:latin typeface="Segoe UI"/>
              </a:rPr>
              <a:t>0.9560   vs   0.9682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macro F1 — XGBoost is LAST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it is charged for the 460 extra false alarms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8727" y="4828032"/>
            <a:ext cx="5227167" cy="12984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78727" y="4828032"/>
            <a:ext cx="41148" cy="12984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4759" y="4974336"/>
            <a:ext cx="4824831" cy="1042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B6834"/>
                </a:solidFill>
                <a:latin typeface="Segoe UI"/>
              </a:rPr>
              <a:t>0.9671   vs   0.9595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balanced accuracy — XGBoost is FIRST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it is never charged for them; it only gets credit for the 142 extra droughts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RESULTS  ·  FULL-DATA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An un-tuned baseline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ties the tuned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 /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609344"/>
          <a:ext cx="10820092" cy="22585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26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3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43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Macro F1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Balanced acc.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Recall on High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Precision on High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Majority baseline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0.2466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0.3333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0.0000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Decision Tree (d=8)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0.9682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0.9595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0.9074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0.9614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K-NN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0.7514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0.7071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0.3755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0.8539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Linear SVM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0.7536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0.7156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0.3705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0.7968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0.9682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0.9601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0.9093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0.9586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0.9560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0.9671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0.9412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0.8658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1920240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8679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950208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Balanced accuracy is the macro average of per-class recall. Highlighted: the two rows that tie.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434840"/>
            <a:ext cx="3423818" cy="16916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434840"/>
            <a:ext cx="41148" cy="1691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4581144"/>
            <a:ext cx="3021482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EB6834"/>
                </a:solidFill>
                <a:latin typeface="Segoe UI"/>
              </a:rPr>
              <a:t>0.9682  =  0.9682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Decision tree and Random Forest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221 leaves against 300 trees, equal to four decimals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3938" y="4434840"/>
            <a:ext cx="3423818" cy="16916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3938" y="4434840"/>
            <a:ext cx="41148" cy="16916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9970" y="4581144"/>
            <a:ext cx="3021482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898781"/>
                </a:solidFill>
                <a:latin typeface="Segoe UI"/>
              </a:rPr>
              <a:t>0.2466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Majority-class floor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58.7% accurate, and never predicts High at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076" y="4434840"/>
            <a:ext cx="3423818" cy="16916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2076" y="4434840"/>
            <a:ext cx="41148" cy="1691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8108" y="4581144"/>
            <a:ext cx="3021482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A78D6"/>
                </a:solidFill>
                <a:latin typeface="Segoe UI"/>
              </a:rPr>
              <a:t>0.9560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XGBoost — last here, first on balanced accuracy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exactly the disagreement the previous slide explained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THE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The target is a near-deterministic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threshold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6 / 13</a:t>
            </a:r>
          </a:p>
        </p:txBody>
      </p:sp>
      <p:pic>
        <p:nvPicPr>
          <p:cNvPr id="7" name="Picture 6" descr="Baselines_depth_sweep_UsedBig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97" y="1572768"/>
            <a:ext cx="5410885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901184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Depth sweep, full-data arena. Cross-validated macro F1 peaks and then decays.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27632"/>
            <a:ext cx="43735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0B0B0B"/>
                </a:solidFill>
                <a:latin typeface="Segoe UI"/>
              </a:rPr>
              <a:t>More capacity makes it </a:t>
            </a:r>
            <a:r>
              <a:rPr sz="1500" b="1" i="0">
                <a:solidFill>
                  <a:srgbClr val="EB6834"/>
                </a:solidFill>
                <a:latin typeface="Segoe UI"/>
              </a:rPr>
              <a:t>worse</a:t>
            </a:r>
            <a:r>
              <a:rPr sz="1500" b="0" i="0">
                <a:solidFill>
                  <a:srgbClr val="0B0B0B"/>
                </a:solidFill>
                <a:latin typeface="Segoe UI"/>
              </a:rPr>
              <a:t>, not better.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221 leaves score 0.9682. Unbounded, 9,866 leaves score 0.9452.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834640"/>
            <a:ext cx="43735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20">
                <a:solidFill>
                  <a:srgbClr val="898781"/>
                </a:solidFill>
                <a:latin typeface="Segoe UI"/>
              </a:rPr>
              <a:t>THE SPLITS THE TREE RECOVERS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200400"/>
            <a:ext cx="4373575" cy="47548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96912" y="3319272"/>
            <a:ext cx="4044391" cy="2588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0B0B0B"/>
                </a:solidFill>
                <a:latin typeface="Segoe UI"/>
              </a:rPr>
              <a:t>Soil_Moisture</a:t>
            </a:r>
            <a:r>
              <a:rPr sz="1600" b="1" i="0" dirty="0">
                <a:solidFill>
                  <a:srgbClr val="EB6834"/>
                </a:solidFill>
                <a:latin typeface="Segoe UI"/>
              </a:rPr>
              <a:t>        </a:t>
            </a:r>
            <a:r>
              <a:rPr lang="it-IT" sz="1600" b="1" i="0" dirty="0">
                <a:solidFill>
                  <a:srgbClr val="EB6834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EB6834"/>
                </a:solidFill>
                <a:latin typeface="Segoe UI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767328"/>
            <a:ext cx="4373575" cy="47548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96912" y="3886200"/>
            <a:ext cx="4044391" cy="2588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0B0B0B"/>
                </a:solidFill>
                <a:latin typeface="Segoe UI"/>
              </a:rPr>
              <a:t>Temperature_C</a:t>
            </a:r>
            <a:r>
              <a:rPr sz="1600" b="1" i="0" dirty="0">
                <a:solidFill>
                  <a:srgbClr val="EB6834"/>
                </a:solidFill>
                <a:latin typeface="Segoe UI"/>
              </a:rPr>
              <a:t>      </a:t>
            </a:r>
            <a:r>
              <a:rPr lang="it-IT" sz="1600" b="1" i="0" dirty="0">
                <a:solidFill>
                  <a:srgbClr val="EB6834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EB6834"/>
                </a:solidFill>
                <a:latin typeface="Segoe UI"/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4334256"/>
            <a:ext cx="4373575" cy="47548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96912" y="4453128"/>
            <a:ext cx="4044391" cy="2588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dirty="0" err="1">
                <a:solidFill>
                  <a:srgbClr val="0B0B0B"/>
                </a:solidFill>
                <a:latin typeface="Segoe UI"/>
              </a:rPr>
              <a:t>Wind_Speed_km</a:t>
            </a:r>
            <a:r>
              <a:rPr lang="it-IT" sz="1250" b="1" i="0" dirty="0">
                <a:solidFill>
                  <a:srgbClr val="0B0B0B"/>
                </a:solidFill>
                <a:latin typeface="Segoe UI"/>
              </a:rPr>
              <a:t>/</a:t>
            </a:r>
            <a:r>
              <a:rPr sz="1250" b="1" i="0" dirty="0">
                <a:solidFill>
                  <a:srgbClr val="0B0B0B"/>
                </a:solidFill>
                <a:latin typeface="Segoe UI"/>
              </a:rPr>
              <a:t>h</a:t>
            </a:r>
            <a:r>
              <a:rPr sz="1600" b="1" i="0" dirty="0">
                <a:solidFill>
                  <a:srgbClr val="EB6834"/>
                </a:solidFill>
                <a:latin typeface="Segoe UI"/>
              </a:rPr>
              <a:t> </a:t>
            </a:r>
            <a:r>
              <a:rPr lang="it-IT" sz="1600" b="1" i="0" dirty="0">
                <a:solidFill>
                  <a:srgbClr val="EB6834"/>
                </a:solidFill>
                <a:latin typeface="Segoe UI"/>
              </a:rPr>
              <a:t> </a:t>
            </a:r>
            <a:r>
              <a:rPr sz="1600" b="1" i="0" dirty="0">
                <a:solidFill>
                  <a:srgbClr val="EB6834"/>
                </a:solidFill>
                <a:latin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983480"/>
            <a:ext cx="437357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De-standardized, the learned split points are 24.99, 29.98 and 9.99. The generator wrote the labels with round numbers, and the tree found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CONSEQUENCE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The ensembles buy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nothing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7 / 13</a:t>
            </a:r>
          </a:p>
        </p:txBody>
      </p:sp>
      <p:pic>
        <p:nvPicPr>
          <p:cNvPr id="7" name="Picture 6" descr="Baselines_confusion_matrix_decision_tree_d_8_UsedBig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786" y="1536192"/>
            <a:ext cx="3507194" cy="2697480"/>
          </a:xfrm>
          <a:prstGeom prst="rect">
            <a:avLst/>
          </a:prstGeom>
        </p:spPr>
      </p:pic>
      <p:pic>
        <p:nvPicPr>
          <p:cNvPr id="8" name="Picture 7" descr="RandomForest_confusion_matrix_random_forest_UsedBig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713" y="1536192"/>
            <a:ext cx="3507194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297680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1 tree, 221 leaves, 39 KB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4297680"/>
            <a:ext cx="522716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300 trees, 2,784,223 leaves, 494 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709160"/>
            <a:ext cx="3423818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709160"/>
            <a:ext cx="41148" cy="14813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4855464"/>
            <a:ext cx="3021482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EB6834"/>
                </a:solidFill>
                <a:latin typeface="Segoe UI"/>
              </a:rPr>
              <a:t>12,300x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more disk for the same 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both at 0.9682 macro F1; the forest takes 4.8 s to score the test set, the tree is too fast to measure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3938" y="4709160"/>
            <a:ext cx="3423818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3938" y="4709160"/>
            <a:ext cx="41148" cy="148132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9970" y="4855464"/>
            <a:ext cx="3021482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98781"/>
                </a:solidFill>
                <a:latin typeface="Segoe UI"/>
              </a:rPr>
              <a:t>-0.0001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difference between them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95% interval [-0.0011, +0.0009] -- the only comparison in the study that contains zero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2076" y="4709160"/>
            <a:ext cx="3423818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2076" y="4709160"/>
            <a:ext cx="41148" cy="148132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8108" y="4855464"/>
            <a:ext cx="3021482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04281"/>
                </a:solidFill>
                <a:latin typeface="Segoe UI"/>
              </a:rPr>
              <a:t>99.84%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identical labels, unseen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on 270,000 held-out competition rows they disagree 428 times, never between Low and High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CONSEQUENCE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Balancing is a trade-off,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not a free lunch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91056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0B0B"/>
                </a:solidFill>
                <a:latin typeface="Segoe UI"/>
              </a:rPr>
              <a:t>Precision and recall on </a:t>
            </a:r>
            <a:r>
              <a:rPr sz="1400" b="1" i="0">
                <a:solidFill>
                  <a:srgbClr val="104281"/>
                </a:solidFill>
                <a:latin typeface="Segoe UI"/>
              </a:rPr>
              <a:t>High</a:t>
            </a:r>
            <a:r>
              <a:rPr sz="1400" b="0" i="0">
                <a:solidFill>
                  <a:srgbClr val="0B0B0B"/>
                </a:solidFill>
                <a:latin typeface="Segoe UI"/>
              </a:rPr>
              <a:t>, same estimator, same grid, same test set — only the training arena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12848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K-NN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2624328"/>
            <a:ext cx="9525" cy="2386584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5102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52514E"/>
                </a:solidFill>
                <a:latin typeface="Segoe UI"/>
              </a:rPr>
              <a:t>balanced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50,421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4207" y="2624328"/>
            <a:ext cx="9525" cy="2386584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1247" y="5102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52514E"/>
                </a:solidFill>
                <a:latin typeface="Segoe UI"/>
              </a:rPr>
              <a:t>full data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504,000 rows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3089506"/>
            <a:ext cx="2346807" cy="1284640"/>
          </a:xfrm>
          <a:prstGeom prst="line">
            <a:avLst/>
          </a:prstGeom>
          <a:ln w="28575">
            <a:solidFill>
              <a:srgbClr val="2A78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007108" y="4323854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424613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precision  </a:t>
            </a:r>
            <a:r>
              <a:rPr sz="1300" b="1" i="0">
                <a:solidFill>
                  <a:srgbClr val="2A78D6"/>
                </a:solidFill>
                <a:latin typeface="Segoe UI"/>
              </a:rPr>
              <a:t>0.230</a:t>
            </a:r>
          </a:p>
        </p:txBody>
      </p:sp>
      <p:sp>
        <p:nvSpPr>
          <p:cNvPr id="16" name="Oval 15"/>
          <p:cNvSpPr/>
          <p:nvPr/>
        </p:nvSpPr>
        <p:spPr>
          <a:xfrm>
            <a:off x="4353915" y="3039214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0511" y="296149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0.854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57400" y="2924091"/>
            <a:ext cx="2346807" cy="1149675"/>
          </a:xfrm>
          <a:prstGeom prst="line">
            <a:avLst/>
          </a:prstGeom>
          <a:ln w="28575">
            <a:solidFill>
              <a:srgbClr val="EB68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007108" y="2873799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796075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recall  </a:t>
            </a:r>
            <a:r>
              <a:rPr sz="1300" b="1" i="0">
                <a:solidFill>
                  <a:srgbClr val="EB6834"/>
                </a:solidFill>
                <a:latin typeface="Segoe UI"/>
              </a:rPr>
              <a:t>0.934</a:t>
            </a:r>
          </a:p>
        </p:txBody>
      </p:sp>
      <p:sp>
        <p:nvSpPr>
          <p:cNvPr id="21" name="Oval 20"/>
          <p:cNvSpPr/>
          <p:nvPr/>
        </p:nvSpPr>
        <p:spPr>
          <a:xfrm>
            <a:off x="4353915" y="4023474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0511" y="394575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Segoe UI"/>
              </a:rPr>
              <a:t>0.376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887" y="2212848"/>
            <a:ext cx="509000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B0B0B"/>
                </a:solidFill>
                <a:latin typeface="Segoe UI"/>
              </a:rPr>
              <a:t>Linear SVM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87487" y="2624328"/>
            <a:ext cx="9525" cy="2386584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64527" y="5102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52514E"/>
                </a:solidFill>
                <a:latin typeface="Segoe UI"/>
              </a:rPr>
              <a:t>balanced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50,421 rows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34295" y="2624328"/>
            <a:ext cx="9525" cy="2386584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11335" y="5102352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52514E"/>
                </a:solidFill>
                <a:latin typeface="Segoe UI"/>
              </a:rPr>
              <a:t>full data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504,000 rows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787487" y="3206983"/>
            <a:ext cx="2346808" cy="1068408"/>
          </a:xfrm>
          <a:prstGeom prst="line">
            <a:avLst/>
          </a:prstGeom>
          <a:ln w="28575">
            <a:solidFill>
              <a:srgbClr val="2A78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737195" y="4225099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4175" y="4147375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precision  </a:t>
            </a:r>
            <a:r>
              <a:rPr sz="1300" b="1" i="0">
                <a:solidFill>
                  <a:srgbClr val="2A78D6"/>
                </a:solidFill>
                <a:latin typeface="Segoe UI"/>
              </a:rPr>
              <a:t>0.278</a:t>
            </a:r>
          </a:p>
        </p:txBody>
      </p:sp>
      <p:sp>
        <p:nvSpPr>
          <p:cNvPr id="31" name="Oval 30"/>
          <p:cNvSpPr/>
          <p:nvPr/>
        </p:nvSpPr>
        <p:spPr>
          <a:xfrm>
            <a:off x="10084003" y="3156691"/>
            <a:ext cx="100584" cy="100584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80599" y="3078967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A78D6"/>
                </a:solidFill>
                <a:latin typeface="Segoe UI"/>
              </a:rPr>
              <a:t>0.797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87487" y="2945693"/>
            <a:ext cx="2346808" cy="1138360"/>
          </a:xfrm>
          <a:prstGeom prst="line">
            <a:avLst/>
          </a:prstGeom>
          <a:ln w="28575">
            <a:solidFill>
              <a:srgbClr val="EB683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737195" y="2895401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4175" y="2817677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recall  </a:t>
            </a:r>
            <a:r>
              <a:rPr sz="1300" b="1" i="0">
                <a:solidFill>
                  <a:srgbClr val="EB6834"/>
                </a:solidFill>
                <a:latin typeface="Segoe UI"/>
              </a:rPr>
              <a:t>0.924</a:t>
            </a:r>
          </a:p>
        </p:txBody>
      </p:sp>
      <p:sp>
        <p:nvSpPr>
          <p:cNvPr id="36" name="Oval 35"/>
          <p:cNvSpPr/>
          <p:nvPr/>
        </p:nvSpPr>
        <p:spPr>
          <a:xfrm>
            <a:off x="10084003" y="4033761"/>
            <a:ext cx="100584" cy="100584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80599" y="3956037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B6834"/>
                </a:solidFill>
                <a:latin typeface="Segoe UI"/>
              </a:rPr>
              <a:t>0.370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614416"/>
            <a:ext cx="108200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0B0B"/>
                </a:solidFill>
                <a:latin typeface="Segoe UI"/>
              </a:rPr>
              <a:t>Two unrelated families mirror each other: balancing buys recall on the rare class and pays for it in precision. </a:t>
            </a:r>
            <a:r>
              <a:rPr sz="1300" b="1" i="0">
                <a:solidFill>
                  <a:srgbClr val="0B0B0B"/>
                </a:solidFill>
                <a:latin typeface="Segoe UI"/>
              </a:rPr>
              <a:t>Cross-validation even rediscovers the prior shift on its own</a:t>
            </a:r>
            <a:r>
              <a:rPr sz="1300" b="0" i="0">
                <a:solidFill>
                  <a:srgbClr val="0B0B0B"/>
                </a:solidFill>
                <a:latin typeface="Segoe UI"/>
              </a:rPr>
              <a:t> — K is tuned to 31 balanced and 11 on the full data, because a large K makes each vote regress towards the global distribution, which a 3.3% class cannot survive.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CONSEQUENCE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A macro average can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hide an operational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9 / 13</a:t>
            </a:r>
          </a:p>
        </p:txBody>
      </p:sp>
      <p:pic>
        <p:nvPicPr>
          <p:cNvPr id="7" name="Picture 6" descr="SVM_confusion_matrix_linear_svm_UsedBig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741" y="1554480"/>
            <a:ext cx="4161078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8463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Linear SVM, full training partition, common test 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627632"/>
            <a:ext cx="5059375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46520" y="1627632"/>
            <a:ext cx="41148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2552" y="1773936"/>
            <a:ext cx="46570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2A78D6"/>
                </a:solidFill>
                <a:latin typeface="Segoe UI"/>
              </a:rPr>
              <a:t>0.7536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Linear SVM macro F1, full data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comfortably above balanced-arena K-NN at 0.6452 — so on the aggregate it looks like the better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127248"/>
            <a:ext cx="5059375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46520" y="3127248"/>
            <a:ext cx="41148" cy="1371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02552" y="3273552"/>
            <a:ext cx="4657039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EB6834"/>
                </a:solidFill>
                <a:latin typeface="Segoe UI"/>
              </a:rPr>
              <a:t>62.95%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514E"/>
                </a:solidFill>
                <a:latin typeface="Segoe UI"/>
              </a:rPr>
              <a:t>of real droughts missed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98781"/>
                </a:solidFill>
                <a:latin typeface="Segoe UI"/>
              </a:rPr>
              <a:t>recall on High = 0.3705; it recovers 1,557 of the 4,202 droughts and files most of the rest under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709160"/>
            <a:ext cx="505937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dirty="0">
                <a:solidFill>
                  <a:srgbClr val="0B0B0B"/>
                </a:solidFill>
                <a:latin typeface="Segoe UI"/>
              </a:rPr>
              <a:t>The aggregate was never wrong — it was answering a different question.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0B0B0B"/>
                </a:solidFill>
                <a:latin typeface="Segoe UI"/>
              </a:rPr>
              <a:t>Slide 4 showed two aggregates disagreeing about the winner. This is the sharper version: one aggregate can look healthy while the class the whole problem is about is being missed. Which is why every model here carries per-class precision and recall.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CONSEQUENCE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Fix the decision rule,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not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0B0B0B"/>
                </a:solidFill>
                <a:latin typeface="Segoe UI"/>
              </a:rPr>
              <a:t>The ROC tells us the information is already there: one-vs-rest AUC on </a:t>
            </a:r>
            <a:r>
              <a:rPr sz="1400" b="1" i="0" dirty="0">
                <a:solidFill>
                  <a:srgbClr val="104281"/>
                </a:solidFill>
                <a:latin typeface="Segoe UI"/>
              </a:rPr>
              <a:t>High</a:t>
            </a:r>
            <a:r>
              <a:rPr sz="1400" b="0" i="0" dirty="0">
                <a:solidFill>
                  <a:srgbClr val="0B0B0B"/>
                </a:solidFill>
                <a:latin typeface="Segoe UI"/>
              </a:rPr>
              <a:t> is </a:t>
            </a:r>
            <a:r>
              <a:rPr sz="1400" b="1" i="0" dirty="0">
                <a:solidFill>
                  <a:srgbClr val="EB6834"/>
                </a:solidFill>
                <a:latin typeface="Segoe UI"/>
              </a:rPr>
              <a:t>0.9981</a:t>
            </a:r>
            <a:r>
              <a:rPr sz="1400" b="0" i="0" dirty="0">
                <a:solidFill>
                  <a:srgbClr val="0B0B0B"/>
                </a:solidFill>
                <a:latin typeface="Segoe UI"/>
              </a:rPr>
              <a:t>. The ranking is near-perfect</a:t>
            </a:r>
            <a:r>
              <a:rPr lang="it-IT" sz="1400" b="0" i="0" dirty="0">
                <a:solidFill>
                  <a:srgbClr val="0B0B0B"/>
                </a:solidFill>
                <a:latin typeface="Segoe UI"/>
              </a:rPr>
              <a:t>.</a:t>
            </a:r>
            <a:r>
              <a:rPr sz="1400" b="0" i="0" dirty="0">
                <a:solidFill>
                  <a:srgbClr val="0B0B0B"/>
                </a:solidFill>
                <a:latin typeface="Segoe UI"/>
              </a:rPr>
              <a:t> </a:t>
            </a:r>
            <a:r>
              <a:rPr lang="it-IT" sz="1400" b="0" i="0" dirty="0">
                <a:solidFill>
                  <a:srgbClr val="0B0B0B"/>
                </a:solidFill>
                <a:latin typeface="Segoe UI"/>
              </a:rPr>
              <a:t>W</a:t>
            </a:r>
            <a:r>
              <a:rPr sz="1400" b="0" i="0" dirty="0">
                <a:solidFill>
                  <a:srgbClr val="0B0B0B"/>
                </a:solidFill>
                <a:latin typeface="Segoe UI"/>
              </a:rPr>
              <a:t>hat limits recall is where we put the threshold.</a:t>
            </a:r>
          </a:p>
        </p:txBody>
      </p:sp>
      <p:pic>
        <p:nvPicPr>
          <p:cNvPr id="8" name="Picture 7" descr="XGBoost_cost_threshold_UsedBig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890" y="2194560"/>
            <a:ext cx="5959915" cy="2423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681728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898781"/>
                </a:solidFill>
                <a:latin typeface="Segoe UI"/>
              </a:rPr>
              <a:t>Left: the precision-recall frontier for High, with </a:t>
            </a:r>
            <a:r>
              <a:rPr sz="1000" b="0" i="0" dirty="0" err="1">
                <a:solidFill>
                  <a:srgbClr val="898781"/>
                </a:solidFill>
                <a:latin typeface="Segoe UI"/>
              </a:rPr>
              <a:t>arg</a:t>
            </a:r>
            <a:r>
              <a:rPr sz="1000" b="0" i="0" dirty="0">
                <a:solidFill>
                  <a:srgbClr val="898781"/>
                </a:solidFill>
                <a:latin typeface="Segoe UI"/>
              </a:rPr>
              <a:t>-max marked. Right: expected cost per 1,000 fields against the threshold, one curve per cost ratio, chosen on training-side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120640"/>
            <a:ext cx="3423818" cy="117043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5120640"/>
            <a:ext cx="41148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5181219"/>
            <a:ext cx="3021482" cy="10871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dirty="0">
                <a:solidFill>
                  <a:srgbClr val="2A78D6"/>
                </a:solidFill>
                <a:latin typeface="Segoe UI"/>
              </a:rPr>
              <a:t>t = 0.90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52514E"/>
                </a:solidFill>
                <a:latin typeface="Segoe UI"/>
              </a:rPr>
              <a:t>cost-optimal threshold at lambda = 1</a:t>
            </a:r>
            <a:endParaRPr lang="it-IT" sz="1050" b="0" i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l-GR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λ</a:t>
            </a:r>
            <a:r>
              <a:rPr lang="it-IT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 = 5 </a:t>
            </a:r>
            <a:r>
              <a:rPr lang="it-IT" sz="1050" dirty="0" err="1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means</a:t>
            </a:r>
            <a:r>
              <a:rPr lang="it-IT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 «I </a:t>
            </a:r>
            <a:r>
              <a:rPr lang="it-IT" sz="1050" dirty="0" err="1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prefer</a:t>
            </a:r>
            <a:r>
              <a:rPr lang="it-IT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 water 10 fields </a:t>
            </a:r>
            <a:r>
              <a:rPr lang="it-IT" sz="1050" dirty="0" err="1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rather</a:t>
            </a:r>
            <a:r>
              <a:rPr lang="it-IT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 </a:t>
            </a:r>
            <a:r>
              <a:rPr lang="it-IT" sz="1050" dirty="0" err="1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than</a:t>
            </a:r>
            <a:r>
              <a:rPr lang="it-IT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 </a:t>
            </a:r>
            <a:r>
              <a:rPr lang="it-IT" sz="1050" dirty="0" err="1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lose</a:t>
            </a:r>
            <a:r>
              <a:rPr lang="it-IT" sz="1050" dirty="0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 1 </a:t>
            </a:r>
            <a:r>
              <a:rPr lang="it-IT" sz="1050" dirty="0" err="1">
                <a:solidFill>
                  <a:srgbClr val="52514E"/>
                </a:solidFill>
                <a:latin typeface="Segoe UI"/>
                <a:cs typeface="Times New Roman" panose="02020603050405020304" pitchFamily="18" charset="0"/>
              </a:rPr>
              <a:t>drought</a:t>
            </a:r>
            <a:endParaRPr sz="1050" b="0" i="0" dirty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98781"/>
                </a:solidFill>
                <a:latin typeface="Segoe UI"/>
              </a:rPr>
              <a:t>not the 0.5-like boundary that </a:t>
            </a:r>
            <a:r>
              <a:rPr sz="950" b="0" i="0" dirty="0" err="1">
                <a:solidFill>
                  <a:srgbClr val="898781"/>
                </a:solidFill>
                <a:latin typeface="Segoe UI"/>
              </a:rPr>
              <a:t>arg</a:t>
            </a:r>
            <a:r>
              <a:rPr sz="950" b="0" i="0" dirty="0">
                <a:solidFill>
                  <a:srgbClr val="898781"/>
                </a:solidFill>
                <a:latin typeface="Segoe UI"/>
              </a:rPr>
              <a:t>-max applies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3938" y="5120640"/>
            <a:ext cx="3423818" cy="117043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3938" y="5120640"/>
            <a:ext cx="41148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9970" y="5266944"/>
            <a:ext cx="302148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dirty="0">
                <a:solidFill>
                  <a:srgbClr val="EB6834"/>
                </a:solidFill>
                <a:latin typeface="Segoe UI"/>
              </a:rPr>
              <a:t>0.9560 → 0.9679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52514E"/>
                </a:solidFill>
                <a:latin typeface="Segoe UI"/>
              </a:rPr>
              <a:t>XGBoost</a:t>
            </a:r>
            <a:r>
              <a:rPr sz="1050" b="0" i="0" dirty="0">
                <a:solidFill>
                  <a:srgbClr val="52514E"/>
                </a:solidFill>
                <a:latin typeface="Segoe UI"/>
              </a:rPr>
              <a:t> macro F1, </a:t>
            </a:r>
            <a:r>
              <a:rPr sz="1050" b="0" i="0" dirty="0" err="1">
                <a:solidFill>
                  <a:srgbClr val="52514E"/>
                </a:solidFill>
                <a:latin typeface="Segoe UI"/>
              </a:rPr>
              <a:t>arg</a:t>
            </a:r>
            <a:r>
              <a:rPr sz="1050" b="0" i="0" dirty="0">
                <a:solidFill>
                  <a:srgbClr val="52514E"/>
                </a:solidFill>
                <a:latin typeface="Segoe UI"/>
              </a:rPr>
              <a:t>-max vs cost rule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98781"/>
                </a:solidFill>
                <a:latin typeface="Segoe UI"/>
              </a:rPr>
              <a:t>almost the whole gap to the decision tree was the decision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076" y="5120640"/>
            <a:ext cx="3423818" cy="117043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2076" y="5120640"/>
            <a:ext cx="41148" cy="1170432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8108" y="5220462"/>
            <a:ext cx="302148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dirty="0">
                <a:solidFill>
                  <a:srgbClr val="104281"/>
                </a:solidFill>
                <a:latin typeface="Segoe UI"/>
              </a:rPr>
              <a:t>0.9807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52514E"/>
                </a:solidFill>
                <a:latin typeface="Segoe UI"/>
              </a:rPr>
              <a:t>recall on High at lambda = 50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98781"/>
                </a:solidFill>
                <a:latin typeface="Segoe UI"/>
              </a:rPr>
              <a:t>at precision 0.5615 — about 10 needless waterings per recovered drought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EXTERNAL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Someone else's scoring code, on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rows we never saw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B0B0B"/>
                </a:solidFill>
                <a:latin typeface="Segoe UI"/>
              </a:rPr>
              <a:t>Three submissions to the Kaggle Playground S6E4 holdout — </a:t>
            </a:r>
            <a:r>
              <a:rPr sz="1400" b="1" i="0">
                <a:solidFill>
                  <a:srgbClr val="0B0B0B"/>
                </a:solidFill>
                <a:latin typeface="Segoe UI"/>
              </a:rPr>
              <a:t>270,000 rows whose labels only Kaggle has</a:t>
            </a:r>
            <a:r>
              <a:rPr sz="1400" b="0" i="0">
                <a:solidFill>
                  <a:srgbClr val="0B0B0B"/>
                </a:solidFill>
                <a:latin typeface="Segoe U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975104"/>
            <a:ext cx="10820095" cy="841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75104"/>
            <a:ext cx="41148" cy="841248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093976"/>
            <a:ext cx="1027145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0B0B0B"/>
                </a:solidFill>
                <a:latin typeface="Segoe UI"/>
              </a:rPr>
              <a:t>Kaggle splits those rows into two disjoint random halves. </a:t>
            </a:r>
            <a:r>
              <a:rPr sz="1250" b="1" i="0">
                <a:solidFill>
                  <a:srgbClr val="104281"/>
                </a:solidFill>
                <a:latin typeface="Segoe UI"/>
              </a:rPr>
              <a:t>Public</a:t>
            </a:r>
            <a:r>
              <a:rPr sz="1250" b="0" i="0">
                <a:solidFill>
                  <a:srgbClr val="0B0B0B"/>
                </a:solidFill>
                <a:latin typeface="Segoe UI"/>
              </a:rPr>
              <a:t> is scored live during the competition and everyone sees it; </a:t>
            </a:r>
            <a:r>
              <a:rPr sz="1250" b="1" i="0">
                <a:solidFill>
                  <a:srgbClr val="104281"/>
                </a:solidFill>
                <a:latin typeface="Segoe UI"/>
              </a:rPr>
              <a:t>private</a:t>
            </a:r>
            <a:r>
              <a:rPr sz="1250" b="0" i="0">
                <a:solidFill>
                  <a:srgbClr val="0B0B0B"/>
                </a:solidFill>
                <a:latin typeface="Segoe UI"/>
              </a:rPr>
              <a:t> stays hidden until it closes and decides the final ranking — so nobody can tune a model against it.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Segoe UI"/>
              </a:rPr>
              <a:t>For us, submitting late and unranked, that split is worth more than the ranking: it is two independent measurements of the same model.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3017520"/>
          <a:ext cx="10820093" cy="13533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55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6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60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7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Internal (our test set)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Kaggle private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Kaggle public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spc="80">
                          <a:solidFill>
                            <a:srgbClr val="898781"/>
                          </a:solidFill>
                          <a:latin typeface="Segoe UI"/>
                        </a:rPr>
                        <a:t>Largest gap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Decision Tree (d=8)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0.9595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0.96073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0.95973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0.0012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0.9601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0.96257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0.95916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 i="0">
                          <a:solidFill>
                            <a:srgbClr val="0B0B0B"/>
                          </a:solidFill>
                          <a:latin typeface="Segoe UI"/>
                        </a:rPr>
                        <a:t>0.0025</a:t>
                      </a:r>
                    </a:p>
                  </a:txBody>
                  <a:tcPr marT="0" marB="0" anchor="ctr"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XGBoost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0.9671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0.96785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0.96630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 i="0">
                          <a:solidFill>
                            <a:srgbClr val="0B0B0B"/>
                          </a:solidFill>
                          <a:latin typeface="Segoe UI"/>
                        </a:rPr>
                        <a:t>0.0008</a:t>
                      </a:r>
                    </a:p>
                  </a:txBody>
                  <a:tcPr marT="0" marB="0" anchor="ctr">
                    <a:solidFill>
                      <a:srgbClr val="F2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85800" y="3328416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37083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773168"/>
            <a:ext cx="5227167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4773168"/>
            <a:ext cx="41148" cy="13716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901184"/>
            <a:ext cx="47699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EB6834"/>
                </a:solidFill>
                <a:latin typeface="Segoe UI"/>
              </a:rPr>
              <a:t>A prediction made before the fact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B6834"/>
                </a:solidFill>
                <a:latin typeface="Segoe UI"/>
              </a:rPr>
              <a:t>1  </a:t>
            </a:r>
            <a:r>
              <a:rPr sz="1100" b="0" i="0">
                <a:solidFill>
                  <a:srgbClr val="0B0B0B"/>
                </a:solidFill>
                <a:latin typeface="Segoe UI"/>
              </a:rPr>
              <a:t>Internally XGBoost is last on macro F1, first on balanced accuracy.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B6834"/>
                </a:solidFill>
                <a:latin typeface="Segoe UI"/>
              </a:rPr>
              <a:t>2  </a:t>
            </a:r>
            <a:r>
              <a:rPr sz="1100" b="0" i="0">
                <a:solidFill>
                  <a:srgbClr val="0B0B0B"/>
                </a:solidFill>
                <a:latin typeface="Segoe UI"/>
              </a:rPr>
              <a:t>Kaggle scores balanced accuracy, so it should win here.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B6834"/>
                </a:solidFill>
                <a:latin typeface="Segoe UI"/>
              </a:rPr>
              <a:t>3  </a:t>
            </a:r>
            <a:r>
              <a:rPr sz="1100" b="0" i="0">
                <a:solidFill>
                  <a:srgbClr val="0B0B0B"/>
                </a:solidFill>
                <a:latin typeface="Segoe UI"/>
              </a:rPr>
              <a:t>Written down before submitting:  0.9671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B6834"/>
                </a:solidFill>
                <a:latin typeface="Segoe UI"/>
              </a:rPr>
              <a:t>4  </a:t>
            </a:r>
            <a:r>
              <a:rPr sz="1100" b="1" i="0">
                <a:solidFill>
                  <a:srgbClr val="0B0B0B"/>
                </a:solidFill>
                <a:latin typeface="Segoe UI"/>
              </a:rPr>
              <a:t>Scored  0.96785  and  0.96630  — off by 0.0008 on each half.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8727" y="4773168"/>
            <a:ext cx="5227167" cy="137160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78727" y="4773168"/>
            <a:ext cx="41148" cy="137160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3047" y="4901184"/>
            <a:ext cx="4769967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0B0B0B"/>
                </a:solidFill>
                <a:latin typeface="Segoe UI"/>
              </a:rPr>
              <a:t>A difference that is not a difference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Segoe UI"/>
              </a:rPr>
              <a:t>The two halves disagree about tree versus forest: the forest leads by 0.00184 on the private half and trails by 0.00057 on the public one. </a:t>
            </a:r>
            <a:r>
              <a:rPr sz="1100" b="1" i="0">
                <a:solidFill>
                  <a:srgbClr val="0B0B0B"/>
                </a:solidFill>
                <a:latin typeface="Segoe UI"/>
              </a:rPr>
              <a:t>A gap whose sign depends on how the rows were dealt is not a gap</a:t>
            </a:r>
            <a:r>
              <a:rPr sz="1100" b="0" i="0">
                <a:solidFill>
                  <a:srgbClr val="0B0B0B"/>
                </a:solidFill>
                <a:latin typeface="Segoe UI"/>
              </a:rPr>
              <a:t> — and this time the split was not ours to choose. XGBoost, by contrast, leads on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WHAT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Two things I expected to help,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and did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12 / 13</a:t>
            </a:r>
          </a:p>
        </p:txBody>
      </p:sp>
      <p:pic>
        <p:nvPicPr>
          <p:cNvPr id="7" name="Picture 6" descr="KNN_pca_knn_sweep_UsedBig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70" y="1572768"/>
            <a:ext cx="5323859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8463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PCA + K-NN, full-data arena: macro F1 against retained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60" y="1627632"/>
            <a:ext cx="4510735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95160" y="1627632"/>
            <a:ext cx="41148" cy="14813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2" y="1773936"/>
            <a:ext cx="4108399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dirty="0">
                <a:solidFill>
                  <a:srgbClr val="EB6834"/>
                </a:solidFill>
                <a:latin typeface="Segoe UI"/>
              </a:rPr>
              <a:t>0.0083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52514E"/>
                </a:solidFill>
                <a:latin typeface="Segoe UI"/>
              </a:rPr>
              <a:t>recall on High at 2 principal components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98781"/>
                </a:solidFill>
                <a:latin typeface="Segoe UI"/>
              </a:rPr>
              <a:t>down from 0.3755 uncompressed — fewer than 50 of the 4,202 droughts found. The loss is monotone; there is no knee to trade 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3246120"/>
            <a:ext cx="4510735" cy="14813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95160" y="3246120"/>
            <a:ext cx="41148" cy="148132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1192" y="3392424"/>
            <a:ext cx="4108399" cy="980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dirty="0">
                <a:solidFill>
                  <a:srgbClr val="898781"/>
                </a:solidFill>
                <a:latin typeface="Segoe UI"/>
              </a:rPr>
              <a:t>0.9682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52514E"/>
                </a:solidFill>
                <a:latin typeface="Segoe UI"/>
              </a:rPr>
              <a:t>decision-tree macro F1 in all six ablation rows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898781"/>
                </a:solidFill>
                <a:latin typeface="Segoe UI"/>
              </a:rPr>
              <a:t>identical whichever engineered features are removed — a tree rebuilds a ratio </a:t>
            </a:r>
            <a:r>
              <a:rPr sz="950" b="1" i="0" dirty="0">
                <a:solidFill>
                  <a:srgbClr val="898781"/>
                </a:solidFill>
                <a:latin typeface="Segoe UI"/>
              </a:rPr>
              <a:t>by splitting on its parts, so it cannot measure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4956048"/>
            <a:ext cx="4510735" cy="900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B0B0B"/>
                </a:solidFill>
                <a:latin typeface="Segoe UI"/>
              </a:rPr>
              <a:t>Both are corroboration, not disappointment. </a:t>
            </a:r>
            <a:r>
              <a:rPr sz="1200" b="0" i="0" dirty="0">
                <a:solidFill>
                  <a:srgbClr val="0B0B0B"/>
                </a:solidFill>
                <a:latin typeface="Segoe UI"/>
              </a:rPr>
              <a:t>PCA rotates towards directions of maximum variance, which have no reason to align with the axes a threshold rule is written on</a:t>
            </a:r>
            <a:r>
              <a:rPr lang="it-IT" sz="1200" b="0" i="0" dirty="0">
                <a:solidFill>
                  <a:srgbClr val="0B0B0B"/>
                </a:solidFill>
                <a:latin typeface="Segoe UI"/>
              </a:rPr>
              <a:t>, </a:t>
            </a:r>
            <a:r>
              <a:rPr sz="1200" b="0" i="0" dirty="0">
                <a:solidFill>
                  <a:srgbClr val="0B0B0B"/>
                </a:solidFill>
                <a:latin typeface="Segoe UI"/>
              </a:rPr>
              <a:t>so compression destroys exactly the structure the classifier needs.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0624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898781"/>
                </a:solidFill>
                <a:latin typeface="Segoe U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2009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0B0B"/>
                </a:solidFill>
                <a:latin typeface="Segoe UI"/>
              </a:rPr>
              <a:t>What the models </a:t>
            </a:r>
            <a:r>
              <a:rPr sz="2900" b="1" i="0">
                <a:solidFill>
                  <a:srgbClr val="EB6834"/>
                </a:solidFill>
                <a:latin typeface="Segoe UI"/>
              </a:rPr>
              <a:t>revealed about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53312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Predicting Irrigation Need  ·  Carlo Stasi  ·  A.Y.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Segoe UI"/>
              </a:rPr>
              <a:t>13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41148" cy="69494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63624"/>
            <a:ext cx="1045433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Segoe UI"/>
              </a:rPr>
              <a:t>The data is governed by a threshold rule.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It explains the whole results landscape — reporting 97% without it would imply the problem needed an expensive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50008"/>
            <a:ext cx="41148" cy="694944"/>
          </a:xfrm>
          <a:prstGeom prst="rect">
            <a:avLst/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359152"/>
            <a:ext cx="1045433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Segoe UI"/>
              </a:rPr>
              <a:t>Aggregate metrics can mask operational failures.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A higher macro F1 hid a model missing 63% of droughts. Per-class recall caught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145536"/>
            <a:ext cx="41148" cy="694944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3154680"/>
            <a:ext cx="1045433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Segoe UI"/>
              </a:rPr>
              <a:t>Balancing is a trade-off, not a free lunch.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Two unrelated estimators mirrored each other; confining it to the training partition is what let us measure the cost honestly.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41064"/>
            <a:ext cx="41148" cy="6949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3950208"/>
            <a:ext cx="1045433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Segoe UI"/>
              </a:rPr>
              <a:t>External validation confirmed the internal reading.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The tie held on 270,000 unseen rows, and the predicted reversal happened.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736592"/>
            <a:ext cx="41148" cy="694944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4745736"/>
            <a:ext cx="1045433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B0B0B"/>
                </a:solidFill>
                <a:latin typeface="Segoe UI"/>
              </a:rPr>
              <a:t>Engineered features must justify their complexity.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Segoe UI"/>
              </a:rPr>
              <a:t>Two of three were worth nothing; the third only helped a model that could not rebuild it, and only when data was scarce.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14416"/>
            <a:ext cx="10820095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724144"/>
            <a:ext cx="108200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52514E"/>
                </a:solidFill>
                <a:latin typeface="Segoe UI"/>
              </a:rPr>
              <a:t>Limitations: </a:t>
            </a:r>
            <a:r>
              <a:rPr sz="1150" b="0" i="0">
                <a:solidFill>
                  <a:srgbClr val="52514E"/>
                </a:solidFill>
                <a:latin typeface="Segoe UI"/>
              </a:rPr>
              <a:t>the dataset is synthetic, so the threshold behaviour is an artefact of the generator; the cost analysis uses uncalibrated probabilities; several selected hyperparameters sit at a grid edge.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2005</Words>
  <Application>Microsoft Office PowerPoint</Application>
  <PresentationFormat>Widescreen</PresentationFormat>
  <Paragraphs>271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 STASI</cp:lastModifiedBy>
  <cp:revision>2</cp:revision>
  <dcterms:created xsi:type="dcterms:W3CDTF">2013-01-27T09:14:16Z</dcterms:created>
  <dcterms:modified xsi:type="dcterms:W3CDTF">2026-09-17T00:43:39Z</dcterms:modified>
  <cp:category/>
</cp:coreProperties>
</file>